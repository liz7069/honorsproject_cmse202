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notesMasterIdLst>
    <p:notesMasterId r:id="rId2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8" r:id="rId20"/>
    <p:sldId id="279" r:id="rId2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14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251970" y="889862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7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87DE6118-2437-4B30-8E3C-4D2BE6020583}" type="datetimeFigureOut">
              <a:rPr lang="en-US" smtClean="0"/>
              <a:pPr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2119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5" y="602389"/>
            <a:ext cx="4711405" cy="393646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1716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2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5527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87DE6118-2437-4B30-8E3C-4D2BE6020583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350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8" y="1116739"/>
            <a:ext cx="4698263" cy="1272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87DE6118-2437-4B30-8E3C-4D2BE6020583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99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060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87DE6118-2437-4B30-8E3C-4D2BE6020583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1696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4478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4456652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8075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2768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87DE6118-2437-4B30-8E3C-4D2BE6020583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5889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153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27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</p:sldLayoutIdLst>
  <p:hf sldNum="0" hdr="0" ftr="0" dt="0"/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4DB7353-7D7A-431B-A5B6-A3845E6F2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47255" y="-44532"/>
            <a:ext cx="9386886" cy="5192848"/>
            <a:chOff x="-329674" y="-51881"/>
            <a:chExt cx="12515851" cy="6923798"/>
          </a:xfrm>
        </p:grpSpPr>
        <p:sp>
          <p:nvSpPr>
            <p:cNvPr id="120" name="Freeform 5">
              <a:extLst>
                <a:ext uri="{FF2B5EF4-FFF2-40B4-BE49-F238E27FC236}">
                  <a16:creationId xmlns:a16="http://schemas.microsoft.com/office/drawing/2014/main" id="{9E8D15D6-6183-4BE1-A315-C7EC9C1A5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21" name="Freeform 6">
              <a:extLst>
                <a:ext uri="{FF2B5EF4-FFF2-40B4-BE49-F238E27FC236}">
                  <a16:creationId xmlns:a16="http://schemas.microsoft.com/office/drawing/2014/main" id="{82A253FA-4E60-4B4D-94B0-93ECFCF30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E1B39AD1-11BD-457B-822C-A873607F4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22" name="Freeform 8">
              <a:extLst>
                <a:ext uri="{FF2B5EF4-FFF2-40B4-BE49-F238E27FC236}">
                  <a16:creationId xmlns:a16="http://schemas.microsoft.com/office/drawing/2014/main" id="{CC286005-78D5-4BE4-AA8B-75CDC07E7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9E4A22D-7E83-4F24-97FE-931A93CAC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23" name="Freeform 10">
              <a:extLst>
                <a:ext uri="{FF2B5EF4-FFF2-40B4-BE49-F238E27FC236}">
                  <a16:creationId xmlns:a16="http://schemas.microsoft.com/office/drawing/2014/main" id="{4351E96B-8DD4-4D5E-A9F0-C47F5F33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24" name="Freeform 11">
              <a:extLst>
                <a:ext uri="{FF2B5EF4-FFF2-40B4-BE49-F238E27FC236}">
                  <a16:creationId xmlns:a16="http://schemas.microsoft.com/office/drawing/2014/main" id="{BFF78610-2475-4756-9EC8-5DA7D8902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25" name="Freeform 12">
              <a:extLst>
                <a:ext uri="{FF2B5EF4-FFF2-40B4-BE49-F238E27FC236}">
                  <a16:creationId xmlns:a16="http://schemas.microsoft.com/office/drawing/2014/main" id="{C7ACAE44-681D-4CBC-B2AB-E5131DF5A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A22E4A0-73AA-4722-9C16-F3AF9A33E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26" name="Freeform 14">
              <a:extLst>
                <a:ext uri="{FF2B5EF4-FFF2-40B4-BE49-F238E27FC236}">
                  <a16:creationId xmlns:a16="http://schemas.microsoft.com/office/drawing/2014/main" id="{BB36E626-EBEB-41C0-B224-8DB049DB4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D603DEC5-BED4-4DB6-A253-F61CC3674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86AE9DE6-CA9A-479B-A0FB-0E1BAC7A6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6CB8DC8-E75F-4574-A290-AAB7031BE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1CA657E1-3A52-4C23-AA47-EBB2D5C41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ED4F701B-2A93-464F-A673-54EED5C4C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9977C34F-F6C9-4749-B201-7B928802D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3A913E6B-DBE9-4291-A34C-36069ECB8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7D415C04-AB5C-4B76-9E49-EEBAEE64D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151FDC11-E872-4EAE-A597-822F9FE17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B24766B-81CA-44C7-BF11-77A12BA4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51969" y="889862"/>
            <a:ext cx="6636259" cy="3358450"/>
            <a:chOff x="1669293" y="1186483"/>
            <a:chExt cx="8848345" cy="44779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A2F9962-DEB8-461C-8B4C-C0ED0D8A7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R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C0672E08-EB09-4B8E-8522-24BBC2CFF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447AB64-F3EC-4A1F-BFD4-F0F9DB3DA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KR"/>
            </a:p>
          </p:txBody>
        </p:sp>
      </p:grp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6BDBA639-2A71-4A60-A71A-FF1836F5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E208A8B-5EBD-4532-BE72-26414FA7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47255" y="-44532"/>
            <a:ext cx="9386886" cy="5192848"/>
            <a:chOff x="-329674" y="-51881"/>
            <a:chExt cx="12515851" cy="6923798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15D09196-B338-4AB5-A71B-CFD5FFCA6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30" name="Freeform 6">
              <a:extLst>
                <a:ext uri="{FF2B5EF4-FFF2-40B4-BE49-F238E27FC236}">
                  <a16:creationId xmlns:a16="http://schemas.microsoft.com/office/drawing/2014/main" id="{F50B4463-128A-4677-A285-C017E6C54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1D9B95CD-F023-4DFA-9678-1E02713F7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1DDF47A8-BE7B-43F3-A500-F5A4656D8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2DD394DE-76FB-42F8-85F2-FD436F423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B95F2EFB-87E6-4400-AAF3-7EB8B4F15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1D463476-2BC7-418C-9D6F-51444B11A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24011122-2495-478A-81BF-ABBDEA1DA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C79E87C5-E5B3-476B-B539-FC9CF4A33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56029CA-2B38-434D-9044-5FF3A1ECD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9514CFB6-E8DB-43DC-B1CD-9CC2D4B2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BD8C1FC8-E550-45BE-9F30-822BAB378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D1646B5D-A7B7-41EC-9591-0E0C0F4F9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E2118E93-481E-4843-987E-378187AA3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77038464-F4E2-47EC-A87F-18469191E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FB3BBEB1-E146-408F-95B7-EE2F269D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C765B285-56EC-47FC-B116-274EBBD61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CB4A6191-6913-42EA-905E-8A174AE2C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8ADEEF92-F481-475A-845C-5E940F0D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131" name="Freeform: Shape 56">
            <a:extLst>
              <a:ext uri="{FF2B5EF4-FFF2-40B4-BE49-F238E27FC236}">
                <a16:creationId xmlns:a16="http://schemas.microsoft.com/office/drawing/2014/main" id="{D9C506D7-84CB-4057-A44A-465313E7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1630437" y="1836459"/>
            <a:ext cx="3314067" cy="3194706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Oval 32">
            <a:extLst>
              <a:ext uri="{FF2B5EF4-FFF2-40B4-BE49-F238E27FC236}">
                <a16:creationId xmlns:a16="http://schemas.microsoft.com/office/drawing/2014/main" id="{7842FC68-61FD-4700-8A22-BB8B07188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5934" y="518982"/>
            <a:ext cx="5821442" cy="4007298"/>
          </a:xfrm>
          <a:custGeom>
            <a:avLst/>
            <a:gdLst>
              <a:gd name="connsiteX0" fmla="*/ 0 w 6428838"/>
              <a:gd name="connsiteY0" fmla="*/ 2579031 h 5158062"/>
              <a:gd name="connsiteX1" fmla="*/ 3214419 w 6428838"/>
              <a:gd name="connsiteY1" fmla="*/ 0 h 5158062"/>
              <a:gd name="connsiteX2" fmla="*/ 6428838 w 6428838"/>
              <a:gd name="connsiteY2" fmla="*/ 2579031 h 5158062"/>
              <a:gd name="connsiteX3" fmla="*/ 3214419 w 6428838"/>
              <a:gd name="connsiteY3" fmla="*/ 5158062 h 5158062"/>
              <a:gd name="connsiteX4" fmla="*/ 0 w 6428838"/>
              <a:gd name="connsiteY4" fmla="*/ 2579031 h 5158062"/>
              <a:gd name="connsiteX0" fmla="*/ 3321 w 6432159"/>
              <a:gd name="connsiteY0" fmla="*/ 2647125 h 5226156"/>
              <a:gd name="connsiteX1" fmla="*/ 2789723 w 6432159"/>
              <a:gd name="connsiteY1" fmla="*/ 0 h 5226156"/>
              <a:gd name="connsiteX2" fmla="*/ 6432159 w 6432159"/>
              <a:gd name="connsiteY2" fmla="*/ 2647125 h 5226156"/>
              <a:gd name="connsiteX3" fmla="*/ 3217740 w 6432159"/>
              <a:gd name="connsiteY3" fmla="*/ 5226156 h 5226156"/>
              <a:gd name="connsiteX4" fmla="*/ 3321 w 6432159"/>
              <a:gd name="connsiteY4" fmla="*/ 2647125 h 5226156"/>
              <a:gd name="connsiteX0" fmla="*/ 1953 w 6566979"/>
              <a:gd name="connsiteY0" fmla="*/ 2695803 h 5226224"/>
              <a:gd name="connsiteX1" fmla="*/ 2924543 w 6566979"/>
              <a:gd name="connsiteY1" fmla="*/ 39 h 5226224"/>
              <a:gd name="connsiteX2" fmla="*/ 6566979 w 6566979"/>
              <a:gd name="connsiteY2" fmla="*/ 2647164 h 5226224"/>
              <a:gd name="connsiteX3" fmla="*/ 3352560 w 6566979"/>
              <a:gd name="connsiteY3" fmla="*/ 5226195 h 5226224"/>
              <a:gd name="connsiteX4" fmla="*/ 1953 w 6566979"/>
              <a:gd name="connsiteY4" fmla="*/ 2695803 h 5226224"/>
              <a:gd name="connsiteX0" fmla="*/ 8982 w 6574008"/>
              <a:gd name="connsiteY0" fmla="*/ 2695803 h 5226313"/>
              <a:gd name="connsiteX1" fmla="*/ 2931572 w 6574008"/>
              <a:gd name="connsiteY1" fmla="*/ 39 h 5226313"/>
              <a:gd name="connsiteX2" fmla="*/ 6574008 w 6574008"/>
              <a:gd name="connsiteY2" fmla="*/ 2647164 h 5226313"/>
              <a:gd name="connsiteX3" fmla="*/ 3359589 w 6574008"/>
              <a:gd name="connsiteY3" fmla="*/ 5226195 h 5226313"/>
              <a:gd name="connsiteX4" fmla="*/ 8982 w 6574008"/>
              <a:gd name="connsiteY4" fmla="*/ 2695803 h 5226313"/>
              <a:gd name="connsiteX0" fmla="*/ 11929 w 6576955"/>
              <a:gd name="connsiteY0" fmla="*/ 2695953 h 5226463"/>
              <a:gd name="connsiteX1" fmla="*/ 2934519 w 6576955"/>
              <a:gd name="connsiteY1" fmla="*/ 189 h 5226463"/>
              <a:gd name="connsiteX2" fmla="*/ 6576955 w 6576955"/>
              <a:gd name="connsiteY2" fmla="*/ 2647314 h 5226463"/>
              <a:gd name="connsiteX3" fmla="*/ 3362536 w 6576955"/>
              <a:gd name="connsiteY3" fmla="*/ 5226345 h 5226463"/>
              <a:gd name="connsiteX4" fmla="*/ 11929 w 6576955"/>
              <a:gd name="connsiteY4" fmla="*/ 2695953 h 5226463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92159"/>
              <a:gd name="connsiteX1" fmla="*/ 2931852 w 6963394"/>
              <a:gd name="connsiteY1" fmla="*/ 10033 h 5292159"/>
              <a:gd name="connsiteX2" fmla="*/ 6963394 w 6963394"/>
              <a:gd name="connsiteY2" fmla="*/ 3318639 h 5292159"/>
              <a:gd name="connsiteX3" fmla="*/ 3359869 w 6963394"/>
              <a:gd name="connsiteY3" fmla="*/ 5236189 h 5292159"/>
              <a:gd name="connsiteX4" fmla="*/ 9262 w 6963394"/>
              <a:gd name="connsiteY4" fmla="*/ 2705797 h 5292159"/>
              <a:gd name="connsiteX0" fmla="*/ 9262 w 6963394"/>
              <a:gd name="connsiteY0" fmla="*/ 2705797 h 5259961"/>
              <a:gd name="connsiteX1" fmla="*/ 2931852 w 6963394"/>
              <a:gd name="connsiteY1" fmla="*/ 10033 h 5259961"/>
              <a:gd name="connsiteX2" fmla="*/ 6963394 w 6963394"/>
              <a:gd name="connsiteY2" fmla="*/ 3318639 h 5259961"/>
              <a:gd name="connsiteX3" fmla="*/ 3359869 w 6963394"/>
              <a:gd name="connsiteY3" fmla="*/ 5236189 h 5259961"/>
              <a:gd name="connsiteX4" fmla="*/ 9262 w 6963394"/>
              <a:gd name="connsiteY4" fmla="*/ 2705797 h 5259961"/>
              <a:gd name="connsiteX0" fmla="*/ 9557 w 7352795"/>
              <a:gd name="connsiteY0" fmla="*/ 2707501 h 5252013"/>
              <a:gd name="connsiteX1" fmla="*/ 2932147 w 7352795"/>
              <a:gd name="connsiteY1" fmla="*/ 11737 h 5252013"/>
              <a:gd name="connsiteX2" fmla="*/ 7352795 w 7352795"/>
              <a:gd name="connsiteY2" fmla="*/ 3378709 h 5252013"/>
              <a:gd name="connsiteX3" fmla="*/ 3360164 w 7352795"/>
              <a:gd name="connsiteY3" fmla="*/ 5237893 h 5252013"/>
              <a:gd name="connsiteX4" fmla="*/ 9557 w 7352795"/>
              <a:gd name="connsiteY4" fmla="*/ 2707501 h 5252013"/>
              <a:gd name="connsiteX0" fmla="*/ 8078 w 7789061"/>
              <a:gd name="connsiteY0" fmla="*/ 2744796 h 5249051"/>
              <a:gd name="connsiteX1" fmla="*/ 3368413 w 7789061"/>
              <a:gd name="connsiteY1" fmla="*/ 10121 h 5249051"/>
              <a:gd name="connsiteX2" fmla="*/ 7789061 w 7789061"/>
              <a:gd name="connsiteY2" fmla="*/ 3377093 h 5249051"/>
              <a:gd name="connsiteX3" fmla="*/ 3796430 w 7789061"/>
              <a:gd name="connsiteY3" fmla="*/ 5236277 h 5249051"/>
              <a:gd name="connsiteX4" fmla="*/ 8078 w 7789061"/>
              <a:gd name="connsiteY4" fmla="*/ 2744796 h 5249051"/>
              <a:gd name="connsiteX0" fmla="*/ 8078 w 7789061"/>
              <a:gd name="connsiteY0" fmla="*/ 2744796 h 5271741"/>
              <a:gd name="connsiteX1" fmla="*/ 3368413 w 7789061"/>
              <a:gd name="connsiteY1" fmla="*/ 10121 h 5271741"/>
              <a:gd name="connsiteX2" fmla="*/ 7789061 w 7789061"/>
              <a:gd name="connsiteY2" fmla="*/ 3377093 h 5271741"/>
              <a:gd name="connsiteX3" fmla="*/ 3796430 w 7789061"/>
              <a:gd name="connsiteY3" fmla="*/ 5236277 h 5271741"/>
              <a:gd name="connsiteX4" fmla="*/ 8078 w 7789061"/>
              <a:gd name="connsiteY4" fmla="*/ 2744796 h 5271741"/>
              <a:gd name="connsiteX0" fmla="*/ 1055 w 7782038"/>
              <a:gd name="connsiteY0" fmla="*/ 2738806 h 5438018"/>
              <a:gd name="connsiteX1" fmla="*/ 3361390 w 7782038"/>
              <a:gd name="connsiteY1" fmla="*/ 4131 h 5438018"/>
              <a:gd name="connsiteX2" fmla="*/ 7782038 w 7782038"/>
              <a:gd name="connsiteY2" fmla="*/ 3371103 h 5438018"/>
              <a:gd name="connsiteX3" fmla="*/ 3692130 w 7782038"/>
              <a:gd name="connsiteY3" fmla="*/ 5415113 h 5438018"/>
              <a:gd name="connsiteX4" fmla="*/ 1055 w 7782038"/>
              <a:gd name="connsiteY4" fmla="*/ 2738806 h 5438018"/>
              <a:gd name="connsiteX0" fmla="*/ 28883 w 7809866"/>
              <a:gd name="connsiteY0" fmla="*/ 2742147 h 5441359"/>
              <a:gd name="connsiteX1" fmla="*/ 3389218 w 7809866"/>
              <a:gd name="connsiteY1" fmla="*/ 7472 h 5441359"/>
              <a:gd name="connsiteX2" fmla="*/ 7809866 w 7809866"/>
              <a:gd name="connsiteY2" fmla="*/ 3374444 h 5441359"/>
              <a:gd name="connsiteX3" fmla="*/ 3719958 w 7809866"/>
              <a:gd name="connsiteY3" fmla="*/ 5418454 h 5441359"/>
              <a:gd name="connsiteX4" fmla="*/ 28883 w 7809866"/>
              <a:gd name="connsiteY4" fmla="*/ 2742147 h 5441359"/>
              <a:gd name="connsiteX0" fmla="*/ 36549 w 7817532"/>
              <a:gd name="connsiteY0" fmla="*/ 2751085 h 5450297"/>
              <a:gd name="connsiteX1" fmla="*/ 3396884 w 7817532"/>
              <a:gd name="connsiteY1" fmla="*/ 16410 h 5450297"/>
              <a:gd name="connsiteX2" fmla="*/ 7817532 w 7817532"/>
              <a:gd name="connsiteY2" fmla="*/ 3383382 h 5450297"/>
              <a:gd name="connsiteX3" fmla="*/ 3727624 w 7817532"/>
              <a:gd name="connsiteY3" fmla="*/ 5427392 h 5450297"/>
              <a:gd name="connsiteX4" fmla="*/ 36549 w 7817532"/>
              <a:gd name="connsiteY4" fmla="*/ 2751085 h 545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7532" h="5450297">
                <a:moveTo>
                  <a:pt x="36549" y="2751085"/>
                </a:moveTo>
                <a:cubicBezTo>
                  <a:pt x="-281221" y="925127"/>
                  <a:pt x="1526121" y="-147339"/>
                  <a:pt x="3396884" y="16410"/>
                </a:cubicBezTo>
                <a:cubicBezTo>
                  <a:pt x="5267647" y="180159"/>
                  <a:pt x="7817532" y="1453184"/>
                  <a:pt x="7817532" y="3383382"/>
                </a:cubicBezTo>
                <a:cubicBezTo>
                  <a:pt x="7700800" y="5342763"/>
                  <a:pt x="5024455" y="5532775"/>
                  <a:pt x="3727624" y="5427392"/>
                </a:cubicBezTo>
                <a:cubicBezTo>
                  <a:pt x="2430794" y="5322009"/>
                  <a:pt x="354319" y="4577043"/>
                  <a:pt x="36549" y="2751085"/>
                </a:cubicBezTo>
                <a:close/>
              </a:path>
            </a:pathLst>
          </a:custGeom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962207" y="1546378"/>
            <a:ext cx="5219585" cy="1246856"/>
          </a:xfrm>
          <a:prstGeom prst="rect">
            <a:avLst/>
          </a:prstGeom>
        </p:spPr>
        <p:txBody>
          <a:bodyPr vert="horz" lIns="228600" tIns="228600" rIns="228600" bIns="0" rtlCol="0" anchor="b">
            <a:normAutofit/>
          </a:bodyPr>
          <a:lstStyle/>
          <a:p>
            <a:pPr marL="0" indent="0" algn="ct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spc="-150">
                <a:solidFill>
                  <a:srgbClr val="FFFEFF"/>
                </a:solidFill>
                <a:latin typeface="+mj-lt"/>
                <a:ea typeface="+mj-ea"/>
                <a:cs typeface="+mj-cs"/>
              </a:rPr>
              <a:t>Analyzing the Impact of</a:t>
            </a:r>
          </a:p>
          <a:p>
            <a:pPr marL="0" indent="0" algn="ct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spc="-150">
                <a:solidFill>
                  <a:srgbClr val="FFFEFF"/>
                </a:solidFill>
                <a:latin typeface="+mj-lt"/>
                <a:ea typeface="+mj-ea"/>
                <a:cs typeface="+mj-cs"/>
              </a:rPr>
              <a:t>Advertising Spend on Sales</a:t>
            </a:r>
          </a:p>
        </p:txBody>
      </p:sp>
      <p:sp>
        <p:nvSpPr>
          <p:cNvPr id="3" name="Text 1"/>
          <p:cNvSpPr/>
          <p:nvPr/>
        </p:nvSpPr>
        <p:spPr>
          <a:xfrm>
            <a:off x="2541703" y="2837767"/>
            <a:ext cx="4060594" cy="897538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/>
          <a:p>
            <a:pPr algn="ctr" defTabSz="914400">
              <a:spcBef>
                <a:spcPts val="1000"/>
              </a:spcBef>
              <a:spcAft>
                <a:spcPts val="600"/>
              </a:spcAft>
              <a:buClr>
                <a:schemeClr val="accent1"/>
              </a:buClr>
              <a:buSzPct val="110000"/>
            </a:pPr>
            <a:r>
              <a:rPr lang="en-US" sz="1500">
                <a:solidFill>
                  <a:srgbClr val="FFFEFF"/>
                </a:solidFill>
              </a:rPr>
              <a:t>CMSE 202 Project Update — Machine Learning with the Advertising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69164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observations with TV, Radio, and Newspaper advertising budgets (in $thousands) and corresponding Sales values.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114800" cy="169164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sales from advertising spend using machine learning and identify which channel has the strongest impact.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114800" cy="169164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(interpretable baseline) vs. Random Forest Regressor (ensemble, captures non-linear patterns).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926080"/>
            <a:ext cx="4114800" cy="169164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3832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scored using R² and MSE on an 80/20 train-test split with random_state=42.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scatter plots &amp; correlations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of all four variables: TV spend, Radio spend, Newspaper spend, and Sales.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spending is roughly uniform with a slight right skew — many markets use moderate to high TV budgets.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spend is heavily right-skewed, concentrated at lower values.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shows a roughly normal distribution, centered around 12–15 units.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076" y="960120"/>
            <a:ext cx="4865129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vs Sales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linear relationship.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advertising spend is the most correlated channel with sales, showing a clear upward trend across the full spend range (0–300).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near-linear pattern suggests that TV spend directly and consistently drives sales. It also signals that TV will likely be the dominant feature in both models.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230" y="960120"/>
            <a:ext cx="52508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vs Sales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relationship.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spend shows a meaningful but weaker correlation with sales compared to TV. Points are more scattered across spend values.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suggests Radio's effect is less consistent — other factors likely interact with it, and its impact is harder to isolate from TV's stronger influence.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230" y="960120"/>
            <a:ext cx="52508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vs Sales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relationship.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spend shows the weakest correlation with sales among the three channels. The scatter is nearly random with no clear upward trend.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already hints that Newspaper will not be a useful predictor — a finding later confirmed by Random Forest feature importance (score: 0.019).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230" y="960120"/>
            <a:ext cx="52508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vs. Random Forest Regressor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Parametric, interpretable
</a:t>
            </a: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 between features and target
</a:t>
            </a: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coefficients
</a:t>
            </a: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capture non-linear patterns
</a:t>
            </a: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(random_state=42)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decision trees
</a:t>
            </a: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learns structure from data
</a:t>
            </a: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relationships, robust to outliers
</a:t>
            </a: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interpretable than linear regression
</a:t>
            </a: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(random_state=42)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Comparison: R² Score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(R² = 0.955) outperforms Linear Regression (R² = 0.906).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perform well, but Random Forest captures non-linear relationships more effectively.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R² of 0.955 means the model explains 95.5% of the variance in sales — a very strong result that confirms advertising spend is a powerful predictor.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285344"/>
            <a:ext cx="5303520" cy="32357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Comparison: MSE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a lower Mean Squared Error (1.40) compared to Linear Regression (2.91), confirming it as the better-performing model.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Forest's errors are roughly half the size — its predictions are on average much closer to actual sales values.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both metrics consistently point to Random Forest as the stronger model for this dataset.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285344"/>
            <a:ext cx="5303520" cy="32357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Predictions, residuals &amp; feature importance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 Sales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predictions closely follow the diagonal reference line (perfect prediction), indicating strong model accuracy.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near the line confirm the model generalizes well to unseen data.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few points slightly off-diagonal represent modest over- or under-predictions, which are expected and small in magnitude, consistent with MSE = 1.40.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645" y="960120"/>
            <a:ext cx="3871991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Error Plot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randomly scattered around zero with no clear pattern — this is ideal model behavior.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pattern (funnel shape or curve) would indicate bias or heteroscedasticity. The random scatter here confirms the model fits well across all sales ranges.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residuals fall within ±2 units, with only a few outliers at the extremes.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453" y="960120"/>
            <a:ext cx="529037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Prediction Errors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errors are roughly centered at zero and bell-shaped, confirming consistent model performance.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larger errors exist at the tails (around ±3–4 units), but the vast majority of predictions are within ±1.5 units.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near-normal error distribution indicates the model's mistakes are random rather than systematic — another sign of a well-fitted model.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509" y="960120"/>
            <a:ext cx="530026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advertising has by far the highest importance score (0.844), followed by Radio (0.136) and Newspaper (0.019).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contributes over 84% of the model's predictive power and is the dominant predictor of sales.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Newspaper's near-zero importance confirms what the scatter plot suggested: it adds almost no predictive value and could be dropped without significantly affecting performance.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345460"/>
            <a:ext cx="5303520" cy="31155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86868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Random Forest outperform Linear Regression?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1673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advertising-to-sales relationship has non-linear elements (e.g., diminishing returns at high TV spend, channel interaction effects). Random Forest captures these patterns while Linear Regression assumes a fixed linear effect per dollar.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TV the dominant feature?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advertising reaches the broadest audience and shows the strongest correlation (r ≈ 0.78). Radio has a moderate secondary effect. Newspaper shows almost no independent predictive value once TV is accounted for.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8229600" cy="868680"/>
          </a:xfrm>
          <a:prstGeom prst="rect">
            <a:avLst/>
          </a:prstGeom>
          <a:solidFill>
            <a:srgbClr val="F8F8F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94360" y="29626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25526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small (200 observations). No time effects, seasonality, or channel interaction terms. Results may not generalize beyond this dataset to other industries or markets.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77056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594360" y="39319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224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for more robust estimates, interaction features (TV × Radio), Gradient Boosting comparison, and feature selection to test whether dropping Newspaper hurts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996696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advertising is the strongest predictor of sales (feature importance: 0.844). It should be prioritized when allocating advertising budgets.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92224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(R² = 0.955, MSE = 1.40) significantly outperforms Linear Regression (R² = 0.906, MSE = 2.91), indicating non-linear patterns in the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4572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587752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advertising has negligible predictive value (importance: 0.019) and likely does not justify its spend relative to TV or Radio.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4572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383280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 confirms no systematic model bias — errors are randomly distributed and centered near zero across all sales ranges.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178808"/>
            <a:ext cx="7635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methods (Random Forest) offer meaningful accuracy gains over a linear baseline for advertising spend prediction tasks.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CMSE 202 Honors Project — Machine Learning with the Advertising Dataset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663</TotalTime>
  <Words>1184</Words>
  <Application>Microsoft Macintosh PowerPoint</Application>
  <PresentationFormat>On-screen Show (16:9)</PresentationFormat>
  <Paragraphs>132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Calibri Light</vt:lpstr>
      <vt:lpstr>Rockwell</vt:lpstr>
      <vt:lpstr>Wingdings</vt:lpstr>
      <vt:lpstr>Atlas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the Impact of Advertising Spend on Sales</dc:title>
  <dc:subject>PptxGenJS Presentation</dc:subject>
  <dc:creator>PptxGenJS</dc:creator>
  <cp:lastModifiedBy>Choi, HyeJin</cp:lastModifiedBy>
  <cp:revision>3</cp:revision>
  <dcterms:created xsi:type="dcterms:W3CDTF">2026-04-29T06:08:28Z</dcterms:created>
  <dcterms:modified xsi:type="dcterms:W3CDTF">2026-04-30T00:04:31Z</dcterms:modified>
</cp:coreProperties>
</file>